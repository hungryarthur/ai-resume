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6"/>
    <p:sldId id="260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2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1A6DD-4AAC-4179-8A39-084B02E97B6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148B1-6FDC-49EF-9EDE-7AC57376D6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72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825" y="637095"/>
            <a:ext cx="26746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FD6E1-8479-4DDE-A5C0-E249B9402A1F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91135">
              <a:lnSpc>
                <a:spcPts val="28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51CB-8E28-4A0B-9141-B6698CB6C191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91135">
              <a:lnSpc>
                <a:spcPts val="28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43133-93FF-4DE1-BCA5-CBA8491E1854}" type="datetime1">
              <a:rPr lang="en-US" smtClean="0"/>
              <a:t>4/15/2026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91135">
              <a:lnSpc>
                <a:spcPts val="28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C9B6D-4F50-45BC-B8C9-B6B197AF185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91135">
              <a:lnSpc>
                <a:spcPts val="28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19749-63B0-4B5B-B12E-BB1D7ADD12BD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91135">
              <a:lnSpc>
                <a:spcPts val="28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503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825" y="637095"/>
            <a:ext cx="691324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98337" y="1810347"/>
            <a:ext cx="5906134" cy="1604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54B54-F3FD-4077-B3C6-8F1DFDB5927B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24462" y="6099211"/>
            <a:ext cx="397509" cy="3985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91135">
              <a:lnSpc>
                <a:spcPts val="28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0567" y="1828800"/>
            <a:ext cx="8190865" cy="2250616"/>
          </a:xfrm>
          <a:prstGeom prst="rect">
            <a:avLst/>
          </a:prstGeom>
        </p:spPr>
        <p:txBody>
          <a:bodyPr vert="horz" wrap="square" lIns="0" tIns="4000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0"/>
              </a:spcBef>
            </a:pPr>
            <a:r>
              <a:rPr lang="ru-RU" sz="4000" b="1" dirty="0">
                <a:latin typeface="Arial"/>
                <a:cs typeface="Arial"/>
              </a:rPr>
              <a:t>Разработка AI-сервиса</a:t>
            </a:r>
            <a:br>
              <a:rPr lang="ru-RU" sz="4000" b="1" dirty="0">
                <a:latin typeface="Arial"/>
                <a:cs typeface="Arial"/>
              </a:rPr>
            </a:br>
            <a:r>
              <a:rPr lang="ru-RU" sz="4000" b="1" dirty="0">
                <a:latin typeface="Arial"/>
                <a:cs typeface="Arial"/>
              </a:rPr>
              <a:t>для анализа соответствия</a:t>
            </a:r>
            <a:br>
              <a:rPr lang="ru-RU" sz="4000" b="1" dirty="0">
                <a:latin typeface="Arial"/>
                <a:cs typeface="Arial"/>
              </a:rPr>
            </a:br>
            <a:r>
              <a:rPr lang="ru-RU" sz="4000" b="1" dirty="0">
                <a:latin typeface="Arial"/>
                <a:cs typeface="Arial"/>
              </a:rPr>
              <a:t>резюме по тексту вакансии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5999" y="4419600"/>
            <a:ext cx="6096000" cy="1786386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ru-RU" sz="2400" dirty="0">
                <a:latin typeface="Microsoft Sans Serif"/>
                <a:cs typeface="Microsoft Sans Serif"/>
              </a:rPr>
              <a:t>Студент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r>
              <a:rPr sz="2400" spc="-1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Амарян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dirty="0" err="1">
                <a:latin typeface="Microsoft Sans Serif"/>
                <a:cs typeface="Microsoft Sans Serif"/>
              </a:rPr>
              <a:t>Артур</a:t>
            </a:r>
            <a:r>
              <a:rPr sz="2400" spc="-110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Гагикович</a:t>
            </a:r>
            <a:endParaRPr lang="ru-RU" sz="2400" spc="-3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ru-RU" sz="2400" spc="-30" dirty="0">
                <a:latin typeface="Microsoft Sans Serif"/>
                <a:cs typeface="Microsoft Sans Serif"/>
              </a:rPr>
              <a:t>Группа</a:t>
            </a:r>
            <a:r>
              <a:rPr lang="en-US" sz="2400" spc="-30" dirty="0">
                <a:latin typeface="Microsoft Sans Serif"/>
                <a:cs typeface="Microsoft Sans Serif"/>
              </a:rPr>
              <a:t>: </a:t>
            </a:r>
            <a:r>
              <a:rPr lang="ru-RU" sz="2400" spc="-30" dirty="0">
                <a:latin typeface="Microsoft Sans Serif"/>
                <a:cs typeface="Microsoft Sans Serif"/>
              </a:rPr>
              <a:t>ИСП-42</a:t>
            </a: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ru-RU" sz="2400" spc="-30" dirty="0">
                <a:latin typeface="Microsoft Sans Serif"/>
                <a:cs typeface="Microsoft Sans Serif"/>
              </a:rPr>
              <a:t>Преподаватель</a:t>
            </a:r>
            <a:r>
              <a:rPr lang="en-US" sz="2400" spc="-30" dirty="0">
                <a:latin typeface="Microsoft Sans Serif"/>
                <a:cs typeface="Microsoft Sans Serif"/>
              </a:rPr>
              <a:t>: </a:t>
            </a:r>
            <a:r>
              <a:rPr lang="ru-RU" sz="2400" spc="-30" dirty="0">
                <a:latin typeface="Microsoft Sans Serif"/>
                <a:cs typeface="Microsoft Sans Serif"/>
              </a:rPr>
              <a:t>Галина Владимировна </a:t>
            </a:r>
            <a:r>
              <a:rPr lang="ru-RU" sz="2400" spc="-30" dirty="0" err="1">
                <a:latin typeface="Microsoft Sans Serif"/>
                <a:cs typeface="Microsoft Sans Serif"/>
              </a:rPr>
              <a:t>Базяк</a:t>
            </a:r>
            <a:endParaRPr sz="2400" dirty="0">
              <a:latin typeface="Microsoft Sans Serif"/>
              <a:cs typeface="Microsoft Sans Serif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7BAF1-5039-B297-3E44-92D8664B2FCC}"/>
              </a:ext>
            </a:extLst>
          </p:cNvPr>
          <p:cNvSpPr txBox="1"/>
          <p:nvPr/>
        </p:nvSpPr>
        <p:spPr>
          <a:xfrm>
            <a:off x="3046535" y="76200"/>
            <a:ext cx="60974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 МОСКОВСКОЙ ОБЛАСТИ «ФИЗИКО-ТЕХНИЧЕСКИЙ КОЛЛЕДЖ» (ГБПОУ МО «ФИЗТЕХ-КОЛЛЕДЖ»)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Актуальность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3000" y="875759"/>
            <a:ext cx="5079770" cy="5096098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07470197-515E-B06F-A5E4-10600E838057}"/>
              </a:ext>
            </a:extLst>
          </p:cNvPr>
          <p:cNvSpPr/>
          <p:nvPr/>
        </p:nvSpPr>
        <p:spPr>
          <a:xfrm>
            <a:off x="781174" y="1516684"/>
            <a:ext cx="6153025" cy="4274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Tx/>
              <a:buChar char="-"/>
            </a:pP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</a:t>
            </a: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труда переходит в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</a:t>
            </a: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ru-RU" sz="24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sz="24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Ручной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скрининг</a:t>
            </a: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6–30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</a:t>
            </a: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резюме</a:t>
            </a:r>
            <a:endParaRPr lang="en-US" sz="24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sz="24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Tx/>
              <a:buChar char="-"/>
            </a:pP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работают</a:t>
            </a: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</a:t>
            </a: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ключевым</a:t>
            </a: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словам</a:t>
            </a:r>
            <a:endParaRPr lang="en-US" sz="24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en-US" sz="24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Tx/>
              <a:buChar char="-"/>
            </a:pP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</a:t>
            </a: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</a:t>
            </a:r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учитываются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Tx/>
              <a:buChar char="-"/>
            </a:pPr>
            <a:endParaRPr lang="en-US" sz="24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768516A-53DA-E772-64EB-2F37AA1E6BF3}"/>
              </a:ext>
            </a:extLst>
          </p:cNvPr>
          <p:cNvSpPr/>
          <p:nvPr/>
        </p:nvSpPr>
        <p:spPr>
          <a:xfrm>
            <a:off x="1143000" y="341528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F432DAFA-E041-7211-00AB-57119CF440BA}"/>
              </a:ext>
            </a:extLst>
          </p:cNvPr>
          <p:cNvSpPr/>
          <p:nvPr/>
        </p:nvSpPr>
        <p:spPr>
          <a:xfrm>
            <a:off x="1143000" y="42672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5F756F9-B202-094B-14D9-F7DAA24EEC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91135">
              <a:lnSpc>
                <a:spcPts val="2870"/>
              </a:lnSpc>
            </a:pPr>
            <a:fld id="{81D60167-4931-47E6-BA6A-407CBD079E47}" type="slidenum">
              <a:rPr lang="ru-RU" spc="-50" smtClean="0"/>
              <a:t>2</a:t>
            </a:fld>
            <a:endParaRPr lang="ru-RU"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Проблема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825" y="1790274"/>
            <a:ext cx="4847590" cy="3509293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ATS-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системы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понимают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текста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</a:t>
            </a:r>
            <a:endParaRPr lang="en-US" sz="2800" dirty="0"/>
          </a:p>
          <a:p>
            <a:pPr marL="0" indent="0">
              <a:buNone/>
            </a:pP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ru-RU" sz="28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Подходящие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кандидаты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отсеиваются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2800" dirty="0"/>
          </a:p>
          <a:p>
            <a:pPr marL="0" indent="0">
              <a:buNone/>
            </a:pP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неподходящие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проходят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7322" y="968923"/>
            <a:ext cx="5516815" cy="51519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825" y="637095"/>
            <a:ext cx="3764279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Цель</a:t>
            </a:r>
            <a:r>
              <a:rPr spc="-60" dirty="0"/>
              <a:t> </a:t>
            </a:r>
            <a:r>
              <a:rPr dirty="0"/>
              <a:t>и</a:t>
            </a:r>
            <a:r>
              <a:rPr spc="-60" dirty="0"/>
              <a:t> </a:t>
            </a:r>
            <a:r>
              <a:rPr spc="-45" dirty="0"/>
              <a:t>задачи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825" y="1520395"/>
            <a:ext cx="5618480" cy="4245393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00" spc="-10" dirty="0">
                <a:latin typeface="Microsoft Sans Serif"/>
                <a:cs typeface="Microsoft Sans Serif"/>
              </a:rPr>
              <a:t>Цель:</a:t>
            </a:r>
            <a:endParaRPr sz="2800" dirty="0">
              <a:latin typeface="Microsoft Sans Serif"/>
              <a:cs typeface="Microsoft Sans Serif"/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анализа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соответствия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резюме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вакансии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основе</a:t>
            </a:r>
            <a:r>
              <a:rPr lang="en-US" sz="2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AI.</a:t>
            </a:r>
            <a:endParaRPr lang="ru-RU" sz="2800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sz="28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Microsoft Sans Serif"/>
                <a:cs typeface="Microsoft Sans Serif"/>
              </a:rPr>
              <a:t>Задачи:</a:t>
            </a:r>
            <a:endParaRPr sz="280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Char char="-"/>
              <a:tabLst>
                <a:tab pos="241300" algn="l"/>
              </a:tabLst>
            </a:pPr>
            <a:r>
              <a:rPr sz="2800" spc="-40" dirty="0" err="1">
                <a:latin typeface="Microsoft Sans Serif"/>
                <a:cs typeface="Microsoft Sans Serif"/>
              </a:rPr>
              <a:t>Разработать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архитектуру</a:t>
            </a:r>
            <a:endParaRPr sz="280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Char char="-"/>
              <a:tabLst>
                <a:tab pos="2413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Подобрать</a:t>
            </a:r>
            <a:r>
              <a:rPr sz="2800" spc="-13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модель</a:t>
            </a:r>
            <a:endParaRPr sz="280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Char char="-"/>
              <a:tabLst>
                <a:tab pos="241300" algn="l"/>
              </a:tabLst>
            </a:pPr>
            <a:r>
              <a:rPr sz="2800" spc="-25" dirty="0">
                <a:latin typeface="Microsoft Sans Serif"/>
                <a:cs typeface="Microsoft Sans Serif"/>
              </a:rPr>
              <a:t>Создание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серверной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части</a:t>
            </a:r>
            <a:endParaRPr sz="28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6565" y="12"/>
            <a:ext cx="5334838" cy="68569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1135">
              <a:lnSpc>
                <a:spcPts val="287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560" y="426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системы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70560" y="1584960"/>
            <a:ext cx="2560320" cy="2926080"/>
          </a:xfrm>
          <a:prstGeom prst="rect">
            <a:avLst/>
          </a:prstGeom>
          <a:solidFill>
            <a:srgbClr val="EBF0FF"/>
          </a:solidFill>
          <a:ln w="12700">
            <a:solidFill>
              <a:srgbClr val="C0C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2480" y="1731264"/>
            <a:ext cx="2316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3440" y="2523744"/>
            <a:ext cx="2194560" cy="0"/>
          </a:xfrm>
          <a:prstGeom prst="line">
            <a:avLst/>
          </a:prstGeom>
          <a:noFill/>
          <a:ln w="12700">
            <a:solidFill>
              <a:srgbClr val="C0C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2480" y="26212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Веб-интерфейс</a:t>
            </a:r>
            <a:endParaRPr lang="en-US" sz="2000" dirty="0"/>
          </a:p>
          <a:p>
            <a:pPr algn="ctr"/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30880" y="3048000"/>
            <a:ext cx="24384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584960"/>
            <a:ext cx="2560320" cy="2926080"/>
          </a:xfrm>
          <a:prstGeom prst="rect">
            <a:avLst/>
          </a:prstGeom>
          <a:solidFill>
            <a:srgbClr val="EBF0FF"/>
          </a:solidFill>
          <a:ln w="12700">
            <a:solidFill>
              <a:srgbClr val="C0C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6640" y="1731264"/>
            <a:ext cx="2316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utils.py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0" y="2523744"/>
            <a:ext cx="2194560" cy="0"/>
          </a:xfrm>
          <a:prstGeom prst="line">
            <a:avLst/>
          </a:prstGeom>
          <a:noFill/>
          <a:ln w="12700">
            <a:solidFill>
              <a:srgbClr val="C0C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6640" y="26212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NLP-</a:t>
            </a:r>
            <a:r>
              <a:rPr lang="en-US" sz="2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35040" y="3048000"/>
            <a:ext cx="24384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584960"/>
            <a:ext cx="2560320" cy="2926080"/>
          </a:xfrm>
          <a:prstGeom prst="rect">
            <a:avLst/>
          </a:prstGeom>
          <a:solidFill>
            <a:srgbClr val="EBF0FF"/>
          </a:solidFill>
          <a:ln w="12700">
            <a:solidFill>
              <a:srgbClr val="C0C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731264"/>
            <a:ext cx="2316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_data.py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61760" y="2523744"/>
            <a:ext cx="2194560" cy="0"/>
          </a:xfrm>
          <a:prstGeom prst="line">
            <a:avLst/>
          </a:prstGeom>
          <a:noFill/>
          <a:ln w="12700">
            <a:solidFill>
              <a:srgbClr val="C0C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6212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839200" y="3048000"/>
            <a:ext cx="24384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3732" y="1584960"/>
            <a:ext cx="2560320" cy="2926080"/>
          </a:xfrm>
          <a:prstGeom prst="rect">
            <a:avLst/>
          </a:prstGeom>
          <a:solidFill>
            <a:srgbClr val="EBF0FF"/>
          </a:solidFill>
          <a:ln w="12700">
            <a:solidFill>
              <a:srgbClr val="C0C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4960" y="1731264"/>
            <a:ext cx="2316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_model.py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265920" y="2523744"/>
            <a:ext cx="2194560" cy="0"/>
          </a:xfrm>
          <a:prstGeom prst="line">
            <a:avLst/>
          </a:prstGeom>
          <a:noFill/>
          <a:ln w="12700">
            <a:solidFill>
              <a:srgbClr val="C0C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04960" y="26212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Дообучение</a:t>
            </a:r>
            <a:r>
              <a:rPr lang="ru-RU" sz="1867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модели</a:t>
            </a:r>
            <a:endParaRPr lang="en-US" sz="1867" dirty="0"/>
          </a:p>
        </p:txBody>
      </p:sp>
      <p:sp>
        <p:nvSpPr>
          <p:cNvPr id="25" name="Text 23"/>
          <p:cNvSpPr/>
          <p:nvPr/>
        </p:nvSpPr>
        <p:spPr>
          <a:xfrm>
            <a:off x="670560" y="4779264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Конвейер обработки: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0560" y="5266944"/>
            <a:ext cx="2218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Ввод PDF/текст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2962656" y="5266944"/>
            <a:ext cx="2218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Очистка + лемматизация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5254752" y="5266944"/>
            <a:ext cx="2218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SBERT → вектор</a:t>
            </a:r>
            <a:endParaRPr lang="en-US" sz="1733" dirty="0"/>
          </a:p>
        </p:txBody>
      </p:sp>
      <p:sp>
        <p:nvSpPr>
          <p:cNvPr id="29" name="Text 27"/>
          <p:cNvSpPr/>
          <p:nvPr/>
        </p:nvSpPr>
        <p:spPr>
          <a:xfrm>
            <a:off x="7546848" y="5266944"/>
            <a:ext cx="2218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Косинусное сходство</a:t>
            </a:r>
            <a:endParaRPr lang="en-US" sz="1733" dirty="0"/>
          </a:p>
        </p:txBody>
      </p:sp>
      <p:sp>
        <p:nvSpPr>
          <p:cNvPr id="30" name="Text 28"/>
          <p:cNvSpPr/>
          <p:nvPr/>
        </p:nvSpPr>
        <p:spPr>
          <a:xfrm>
            <a:off x="9838944" y="5266944"/>
            <a:ext cx="2218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Результат + навыки</a:t>
            </a:r>
            <a:endParaRPr lang="en-US" sz="1733" dirty="0"/>
          </a:p>
        </p:txBody>
      </p:sp>
      <p:sp>
        <p:nvSpPr>
          <p:cNvPr id="31" name="Text 29"/>
          <p:cNvSpPr/>
          <p:nvPr/>
        </p:nvSpPr>
        <p:spPr>
          <a:xfrm>
            <a:off x="11338560" y="6217920"/>
            <a:ext cx="609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825" y="637095"/>
            <a:ext cx="44818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Обзор аналогов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1135">
              <a:lnSpc>
                <a:spcPts val="287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C6F07BF-4140-CAB6-113F-9BB701EB1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121570"/>
              </p:ext>
            </p:extLst>
          </p:nvPr>
        </p:nvGraphicFramePr>
        <p:xfrm>
          <a:off x="990600" y="1752599"/>
          <a:ext cx="10633862" cy="4346612"/>
        </p:xfrm>
        <a:graphic>
          <a:graphicData uri="http://schemas.openxmlformats.org/drawingml/2006/table">
            <a:tbl>
              <a:tblPr/>
              <a:tblGrid>
                <a:gridCol w="2511408">
                  <a:extLst>
                    <a:ext uri="{9D8B030D-6E8A-4147-A177-3AD203B41FA5}">
                      <a16:colId xmlns:a16="http://schemas.microsoft.com/office/drawing/2014/main" val="1386721460"/>
                    </a:ext>
                  </a:extLst>
                </a:gridCol>
                <a:gridCol w="2650662">
                  <a:extLst>
                    <a:ext uri="{9D8B030D-6E8A-4147-A177-3AD203B41FA5}">
                      <a16:colId xmlns:a16="http://schemas.microsoft.com/office/drawing/2014/main" val="1873382108"/>
                    </a:ext>
                  </a:extLst>
                </a:gridCol>
                <a:gridCol w="2735896">
                  <a:extLst>
                    <a:ext uri="{9D8B030D-6E8A-4147-A177-3AD203B41FA5}">
                      <a16:colId xmlns:a16="http://schemas.microsoft.com/office/drawing/2014/main" val="907411300"/>
                    </a:ext>
                  </a:extLst>
                </a:gridCol>
                <a:gridCol w="2735896">
                  <a:extLst>
                    <a:ext uri="{9D8B030D-6E8A-4147-A177-3AD203B41FA5}">
                      <a16:colId xmlns:a16="http://schemas.microsoft.com/office/drawing/2014/main" val="150245704"/>
                    </a:ext>
                  </a:extLst>
                </a:gridCol>
              </a:tblGrid>
              <a:tr h="7378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Критерий</a:t>
                      </a:r>
                    </a:p>
                  </a:txBody>
                  <a:tcPr marL="29255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Jobscan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/ </a:t>
                      </a:r>
                      <a:r>
                        <a:rPr lang="en-US" sz="2000" b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hh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ATS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Традиционные фильтры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РАЗРАБОТАННЫЙ СЕРВИС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520552"/>
                  </a:ext>
                </a:extLst>
              </a:tr>
              <a:tr h="7378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Метод анализа</a:t>
                      </a:r>
                    </a:p>
                  </a:txBody>
                  <a:tcPr marL="29255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Совпадение ключевых слов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Только заполненные поля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Семантическое сходство 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AI)</a:t>
                      </a:r>
                    </a:p>
                  </a:txBody>
                  <a:tcPr marL="39007" marR="29255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157196"/>
                  </a:ext>
                </a:extLst>
              </a:tr>
              <a:tr h="65755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Понимание смысла</a:t>
                      </a:r>
                    </a:p>
                  </a:txBody>
                  <a:tcPr marL="29255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Низкое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Отсутствует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Высокое</a:t>
                      </a:r>
                    </a:p>
                  </a:txBody>
                  <a:tcPr marL="39007" marR="29255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140194"/>
                  </a:ext>
                </a:extLst>
              </a:tr>
              <a:tr h="7378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Работа с русским языком</a:t>
                      </a:r>
                    </a:p>
                  </a:txBody>
                  <a:tcPr marL="29255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Ограниченная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Хорошая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Хорошая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9007" marR="29255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900422"/>
                  </a:ext>
                </a:extLst>
              </a:tr>
              <a:tr h="7378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Доступность / Цена</a:t>
                      </a:r>
                    </a:p>
                  </a:txBody>
                  <a:tcPr marL="29255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Платные тарифы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Только внутри компаний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Открытый код</a:t>
                      </a:r>
                    </a:p>
                  </a:txBody>
                  <a:tcPr marL="39007" marR="29255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258798"/>
                  </a:ext>
                </a:extLst>
              </a:tr>
              <a:tr h="73781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Адаптация под специфику</a:t>
                      </a:r>
                    </a:p>
                  </a:txBody>
                  <a:tcPr marL="29255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</a:t>
                      </a:r>
                    </a:p>
                  </a:txBody>
                  <a:tcPr marL="39007" marR="39007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Дообучение на своих данных</a:t>
                      </a:r>
                    </a:p>
                  </a:txBody>
                  <a:tcPr marL="39007" marR="29255" marT="24379" marB="243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7841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E54A2523-9F68-55AA-2CF9-156097D61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533853"/>
              </p:ext>
            </p:extLst>
          </p:nvPr>
        </p:nvGraphicFramePr>
        <p:xfrm>
          <a:off x="762000" y="1752600"/>
          <a:ext cx="10512670" cy="4346611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74107208"/>
                    </a:ext>
                  </a:extLst>
                </a:gridCol>
                <a:gridCol w="5254870">
                  <a:extLst>
                    <a:ext uri="{9D8B030D-6E8A-4147-A177-3AD203B41FA5}">
                      <a16:colId xmlns:a16="http://schemas.microsoft.com/office/drawing/2014/main" val="2624375576"/>
                    </a:ext>
                  </a:extLst>
                </a:gridCol>
              </a:tblGrid>
              <a:tr h="52748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Категория</a:t>
                      </a: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025" marR="66700" marT="41687" marB="41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Инструменты</a:t>
                      </a: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700" marR="66700" marT="41687" marB="41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676163"/>
                  </a:ext>
                </a:extLst>
              </a:tr>
              <a:tr h="95478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🧠 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NLP &amp; AI</a:t>
                      </a:r>
                      <a:endParaRPr lang="en-US" sz="1800" b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025" marR="66700" marT="41687" marB="41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700" marR="50025" marT="41687" marB="41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37723"/>
                  </a:ext>
                </a:extLst>
              </a:tr>
              <a:tr h="52748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🐍 </a:t>
                      </a:r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Дообучение</a:t>
                      </a: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025" marR="66700" marT="41687" marB="41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 3.11</a:t>
                      </a:r>
                    </a:p>
                  </a:txBody>
                  <a:tcPr marL="66700" marR="50025" marT="41687" marB="41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361651"/>
                  </a:ext>
                </a:extLst>
              </a:tr>
              <a:tr h="95478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📝 </a:t>
                      </a:r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Интерфейс</a:t>
                      </a: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025" marR="66700" marT="41687" marB="41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700" marR="50025" marT="41687" marB="41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528467"/>
                  </a:ext>
                </a:extLst>
              </a:tr>
              <a:tr h="138207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📊 </a:t>
                      </a:r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Данные и обучение</a:t>
                      </a:r>
                      <a:endParaRPr lang="ru-RU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025" marR="66700" marT="41687" marB="41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6700" marR="50025" marT="41687" marB="416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200251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Используемые</a:t>
            </a:r>
            <a:r>
              <a:rPr spc="-210" dirty="0"/>
              <a:t> </a:t>
            </a:r>
            <a:r>
              <a:rPr spc="-10" dirty="0"/>
              <a:t>технологии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5029200"/>
            <a:ext cx="3915851" cy="62108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1135">
              <a:lnSpc>
                <a:spcPts val="287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5C66CC1-07DF-9386-F309-C27FD0E3F1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0705" y="3804905"/>
            <a:ext cx="3536229" cy="85973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6400" y="3303361"/>
            <a:ext cx="443672" cy="41424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7729" y="2403135"/>
            <a:ext cx="3199205" cy="5708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Модуль</a:t>
            </a:r>
            <a:r>
              <a:rPr spc="-120" dirty="0"/>
              <a:t> </a:t>
            </a:r>
            <a:r>
              <a:rPr spc="-25" dirty="0"/>
              <a:t>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824" y="1725958"/>
            <a:ext cx="4112375" cy="2857834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00" spc="-10" dirty="0">
                <a:latin typeface="Microsoft Sans Serif"/>
                <a:cs typeface="Microsoft Sans Serif"/>
              </a:rPr>
              <a:t>Тональность:</a:t>
            </a:r>
            <a:endParaRPr sz="2800" dirty="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Calibri"/>
              <a:buChar char="-"/>
              <a:tabLst>
                <a:tab pos="240665" algn="l"/>
              </a:tabLst>
            </a:pPr>
            <a:r>
              <a:rPr sz="2800" spc="-30" dirty="0">
                <a:latin typeface="Microsoft Sans Serif"/>
                <a:cs typeface="Microsoft Sans Serif"/>
              </a:rPr>
              <a:t>Ключевые</a:t>
            </a:r>
            <a:r>
              <a:rPr sz="2800" spc="-15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слова</a:t>
            </a:r>
            <a:endParaRPr sz="2800" dirty="0">
              <a:latin typeface="Microsoft Sans Serif"/>
              <a:cs typeface="Microsoft Sans Serif"/>
            </a:endParaRPr>
          </a:p>
          <a:p>
            <a:pPr marL="241300" marR="203835" indent="-228600">
              <a:lnSpc>
                <a:spcPts val="3020"/>
              </a:lnSpc>
              <a:spcBef>
                <a:spcPts val="1050"/>
              </a:spcBef>
              <a:buFont typeface="Calibri"/>
              <a:buChar char="-"/>
              <a:tabLst>
                <a:tab pos="24130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Тематическая </a:t>
            </a:r>
            <a:r>
              <a:rPr sz="2800" spc="-30" dirty="0">
                <a:latin typeface="Microsoft Sans Serif"/>
                <a:cs typeface="Microsoft Sans Serif"/>
              </a:rPr>
              <a:t>классификация</a:t>
            </a:r>
            <a:endParaRPr sz="2800" dirty="0">
              <a:latin typeface="Microsoft Sans Serif"/>
              <a:cs typeface="Microsoft Sans Serif"/>
            </a:endParaRPr>
          </a:p>
          <a:p>
            <a:pPr marL="241300" marR="12700" indent="-228600">
              <a:lnSpc>
                <a:spcPts val="3020"/>
              </a:lnSpc>
              <a:spcBef>
                <a:spcPts val="1010"/>
              </a:spcBef>
              <a:buFont typeface="Calibri"/>
              <a:buChar char="-"/>
              <a:tabLst>
                <a:tab pos="2413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Итоговая</a:t>
            </a:r>
            <a:r>
              <a:rPr sz="2800" spc="-130" dirty="0">
                <a:latin typeface="Microsoft Sans Serif"/>
                <a:cs typeface="Microsoft Sans Serif"/>
              </a:rPr>
              <a:t> </a:t>
            </a:r>
            <a:r>
              <a:rPr sz="2800" spc="-35" dirty="0" err="1">
                <a:latin typeface="Microsoft Sans Serif"/>
                <a:cs typeface="Microsoft Sans Serif"/>
              </a:rPr>
              <a:t>оценка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lang="ru-RU" sz="2800" spc="-10" dirty="0">
                <a:latin typeface="Microsoft Sans Serif"/>
                <a:cs typeface="Microsoft Sans Serif"/>
              </a:rPr>
              <a:t>резюме</a:t>
            </a:r>
            <a:r>
              <a:rPr lang="en-US" sz="2800" spc="-10" dirty="0">
                <a:latin typeface="Microsoft Sans Serif"/>
                <a:cs typeface="Microsoft Sans Serif"/>
              </a:rPr>
              <a:t>-</a:t>
            </a:r>
            <a:r>
              <a:rPr lang="ru-RU" sz="2800" spc="-10" dirty="0">
                <a:latin typeface="Microsoft Sans Serif"/>
                <a:cs typeface="Microsoft Sans Serif"/>
              </a:rPr>
              <a:t>вакансии</a:t>
            </a:r>
            <a:endParaRPr sz="28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114" y="12"/>
            <a:ext cx="6857276" cy="68569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1135">
              <a:lnSpc>
                <a:spcPts val="287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Функционал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825" y="1725958"/>
            <a:ext cx="5938520" cy="3055324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5"/>
              </a:spcBef>
              <a:buChar char="-"/>
              <a:tabLst>
                <a:tab pos="241300" algn="l"/>
              </a:tabLst>
            </a:pPr>
            <a:r>
              <a:rPr lang="ru-RU" sz="2800" dirty="0">
                <a:latin typeface="Microsoft Sans Serif"/>
                <a:cs typeface="Microsoft Sans Serif"/>
              </a:rPr>
              <a:t>Веб интерфейс</a:t>
            </a:r>
          </a:p>
          <a:p>
            <a:pPr marL="12700">
              <a:lnSpc>
                <a:spcPct val="100000"/>
              </a:lnSpc>
              <a:spcBef>
                <a:spcPts val="765"/>
              </a:spcBef>
              <a:tabLst>
                <a:tab pos="241300" algn="l"/>
              </a:tabLst>
            </a:pPr>
            <a:endParaRPr sz="280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Char char="-"/>
              <a:tabLst>
                <a:tab pos="241300" algn="l"/>
              </a:tabLst>
            </a:pPr>
            <a:r>
              <a:rPr lang="ru-RU" sz="2800" dirty="0"/>
              <a:t>Генерация отчетов и рекомендаций </a:t>
            </a:r>
          </a:p>
          <a:p>
            <a:pPr marL="12700">
              <a:lnSpc>
                <a:spcPct val="100000"/>
              </a:lnSpc>
              <a:spcBef>
                <a:spcPts val="665"/>
              </a:spcBef>
              <a:tabLst>
                <a:tab pos="241300" algn="l"/>
              </a:tabLst>
            </a:pPr>
            <a:endParaRPr lang="ru-RU" sz="2800" dirty="0"/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Char char="-"/>
              <a:tabLst>
                <a:tab pos="241300" algn="l"/>
              </a:tabLst>
            </a:pPr>
            <a:r>
              <a:rPr lang="ru-RU" sz="2800" dirty="0"/>
              <a:t>Классификация навыков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9953" y="1664559"/>
            <a:ext cx="2739847" cy="273984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1135">
              <a:lnSpc>
                <a:spcPts val="287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Arial" panose="020B0604020202020204" pitchFamily="34" charset="0"/>
                <a:cs typeface="Arial" panose="020B0604020202020204" pitchFamily="34" charset="0"/>
              </a:rPr>
              <a:t>Ожидаемые</a:t>
            </a:r>
            <a:r>
              <a:rPr spc="-2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75" dirty="0">
                <a:latin typeface="Arial" panose="020B0604020202020204" pitchFamily="34" charset="0"/>
                <a:cs typeface="Arial" panose="020B0604020202020204" pitchFamily="34" charset="0"/>
              </a:rPr>
              <a:t>результаты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825" y="1725958"/>
            <a:ext cx="4967605" cy="207073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Ожидание: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Calibri"/>
              <a:buChar char="-"/>
              <a:tabLst>
                <a:tab pos="240665" algn="l"/>
              </a:tabLst>
            </a:pPr>
            <a:r>
              <a:rPr sz="2800" spc="-40" dirty="0">
                <a:latin typeface="Arial" panose="020B0604020202020204" pitchFamily="34" charset="0"/>
                <a:cs typeface="Arial" panose="020B0604020202020204" pitchFamily="34" charset="0"/>
              </a:rPr>
              <a:t>Точность</a:t>
            </a:r>
            <a:r>
              <a:rPr sz="280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0" dirty="0">
                <a:latin typeface="Arial" panose="020B0604020202020204" pitchFamily="34" charset="0"/>
                <a:cs typeface="Arial" panose="020B0604020202020204" pitchFamily="34" charset="0"/>
              </a:rPr>
              <a:t>модели</a:t>
            </a:r>
            <a:r>
              <a:rPr sz="2800" spc="-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более</a:t>
            </a:r>
            <a:r>
              <a:rPr sz="280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5" dirty="0"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Calibri"/>
              <a:buChar char="-"/>
              <a:tabLst>
                <a:tab pos="240665" algn="l"/>
              </a:tabLst>
            </a:pPr>
            <a:r>
              <a:rPr sz="2800" spc="-30" dirty="0">
                <a:latin typeface="Arial" panose="020B0604020202020204" pitchFamily="34" charset="0"/>
                <a:cs typeface="Arial" panose="020B0604020202020204" pitchFamily="34" charset="0"/>
              </a:rPr>
              <a:t>Подтверждение</a:t>
            </a:r>
            <a:r>
              <a:rPr sz="2800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гипотезы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Calibri"/>
              <a:buChar char="-"/>
              <a:tabLst>
                <a:tab pos="240665" algn="l"/>
              </a:tabLst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Выявление</a:t>
            </a:r>
            <a:r>
              <a:rPr sz="2800" spc="-11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0" dirty="0">
                <a:latin typeface="Arial" panose="020B0604020202020204" pitchFamily="34" charset="0"/>
                <a:cs typeface="Arial" panose="020B0604020202020204" pitchFamily="34" charset="0"/>
              </a:rPr>
              <a:t>триггерных</a:t>
            </a:r>
            <a:r>
              <a:rPr sz="280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5" dirty="0">
                <a:latin typeface="Arial" panose="020B0604020202020204" pitchFamily="34" charset="0"/>
                <a:cs typeface="Arial" panose="020B0604020202020204" pitchFamily="34" charset="0"/>
              </a:rPr>
              <a:t>тем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4362" y="12"/>
            <a:ext cx="3857040" cy="68569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86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4398" y="70916"/>
            <a:ext cx="6866635" cy="67860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20" dirty="0">
                <a:latin typeface="Arial" panose="020B0604020202020204" pitchFamily="34" charset="0"/>
                <a:cs typeface="Arial" panose="020B0604020202020204" pitchFamily="34" charset="0"/>
              </a:rPr>
              <a:t>Перспективы</a:t>
            </a:r>
            <a:r>
              <a:rPr lang="ru-RU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pc="-20" dirty="0">
                <a:latin typeface="Arial" panose="020B0604020202020204" pitchFamily="34" charset="0"/>
                <a:cs typeface="Arial" panose="020B0604020202020204" pitchFamily="34" charset="0"/>
              </a:rPr>
              <a:t>развития</a:t>
            </a:r>
            <a:endParaRPr spc="-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86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916825" y="1725958"/>
            <a:ext cx="4407573" cy="32938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65"/>
              </a:spcBef>
              <a:buFont typeface="Calibri"/>
              <a:buChar char="-"/>
              <a:tabLst>
                <a:tab pos="240665" algn="l"/>
              </a:tabLst>
            </a:pPr>
            <a:r>
              <a:rPr lang="ru-RU" sz="2800" spc="-10" dirty="0">
                <a:latin typeface="Arial" panose="020B0604020202020204" pitchFamily="34" charset="0"/>
                <a:cs typeface="Arial" panose="020B0604020202020204" pitchFamily="34" charset="0"/>
              </a:rPr>
              <a:t>Реальные размеченные HR-данные для дообучения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Calibri"/>
              <a:buChar char="-"/>
              <a:tabLst>
                <a:tab pos="240665" algn="l"/>
              </a:tabLst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API для интеграции с платформами поиска работы (hh.ru,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SuperJob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Calibri"/>
              <a:buChar char="-"/>
              <a:tabLst>
                <a:tab pos="240665" algn="l"/>
              </a:tabLst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Улучшение модели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8337" y="637095"/>
            <a:ext cx="31902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698337" y="1810347"/>
            <a:ext cx="5906134" cy="198579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4"/>
              </a:spcBef>
            </a:pPr>
            <a:r>
              <a:rPr lang="ru-RU" spc="-20" dirty="0">
                <a:latin typeface="Arial" panose="020B0604020202020204" pitchFamily="34" charset="0"/>
                <a:cs typeface="Arial" panose="020B0604020202020204" pitchFamily="34" charset="0"/>
              </a:rPr>
              <a:t>Разработан сервис для автоматизированного HR-скрининга на русском языке. И дообучена модель на синтетических данных</a:t>
            </a:r>
            <a:r>
              <a:rPr lang="en-US" spc="-2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pc="-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072" y="12"/>
            <a:ext cx="4780788" cy="68569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86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615</TotalTime>
  <Words>323</Words>
  <Application>Microsoft Office PowerPoint</Application>
  <PresentationFormat>Широкоэкранный</PresentationFormat>
  <Paragraphs>111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Microsoft Sans Serif</vt:lpstr>
      <vt:lpstr>Office Theme</vt:lpstr>
      <vt:lpstr>Разработка AI-сервиса для анализа соответствия резюме по тексту вакансии</vt:lpstr>
      <vt:lpstr>Актуальность</vt:lpstr>
      <vt:lpstr>Проблема</vt:lpstr>
      <vt:lpstr>Цель и задачи</vt:lpstr>
      <vt:lpstr>Презентация PowerPoint</vt:lpstr>
      <vt:lpstr>Обзор аналогов</vt:lpstr>
      <vt:lpstr>Используемые технологии</vt:lpstr>
      <vt:lpstr>Модуль ИИ</vt:lpstr>
      <vt:lpstr>Функционал</vt:lpstr>
      <vt:lpstr>Ожидаемые результаты</vt:lpstr>
      <vt:lpstr>Перспективы развития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Health Scanner</dc:title>
  <dc:creator>laptop 5</dc:creator>
  <cp:lastModifiedBy>Albert Amaryan</cp:lastModifiedBy>
  <cp:revision>12</cp:revision>
  <dcterms:created xsi:type="dcterms:W3CDTF">2026-03-13T21:30:06Z</dcterms:created>
  <dcterms:modified xsi:type="dcterms:W3CDTF">2026-04-15T17:30:00Z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2026-02-20T00:00:00Z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24.2</vt:lpwstr>
  </property>
  <property fmtid="{D5CDD505-2E9C-101B-9397-08002B2CF9AE}" pid="5" name="LastSaved">
    <vt:filetime>2026-02-20T00:00:00Z</vt:filetime>
  </property>
</Properties>
</file>